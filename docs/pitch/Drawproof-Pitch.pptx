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0:00–0:08. "We're Drawproof. Construction money should move only when the building does." Do not walk the timeline; it previews the product. Example project figures are illustrative and match the $400K duplex example in docs/07-pitch.md.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0:08–0:30. "More than 800 investors put approximately $62.8 million into the Nightingale deals on CrowdStreet. The sponsor diverted the funds. It keeps happening: Yieldstreet investors have lost hundreds of millions. Construction lenders face the same gap every draw: money goes out on a sponsor's word, not on evidence the work happened." Use the case as motivation for accountability; do not claim Drawproof would have prevented the entire fraud. Sources: https://www.justice.gov/usao-ndga/pr/head-commercial-real-estate-investment-firm-sentenced-federal-prison-628-million-fraud ; NAHB/FDIC https://eyeonhousing.org/2026/08/single-family-adc-lending-falls-back-in-q2/ ; Built (vendor) via Bisnow; FinCEN CRE Financing Fraud report (2011).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0:30–0:45. "Every draw has a test suite. Our automated review checks the builder's evidence for consistency: location, reused photos, invoices against the budget. A licensed inspector, assigned by us and not the builder, visits the site and signs the audit. The XRP Ledger holds the money in escrow and records every result." Duplicate-photo matching is deterministic, not model reasoning. The platform's release service controls timing; the ledger does not evaluate the AI verdict.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0:45–1:00. "Investors fund the project's vault. The vault lends to a multisig project account, and each milestone is locked in its own escrow. Evidence is reviewed. Pass, and the builder is paid. Fail, and the money stays locked." Proof: docs/proof-devnet-2026-10-25-v2.md, demo run: 28 transactions plus one expected tec. Devnet only; Vault and Lending Protocol are not on mainnet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1:00–2:40. Play the local MP4 (silent, live narration) per docs/04-demo-script.md. Keep the project and milestone visible; show review before signing or paying; end on the failed milestone still locked. Label the actual verifier mode (mock judgments unless a live run is validated in the recording). Do not narrate the old 'Ledger says no' beat.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2:40–2:50. "We earn verification, origination, and management fees, and we post first-loss cover, so we lose first if we verify a bad project. Next, we're looking for one construction-lending pilot. Thank you. Happy to take questions." Leave this slide up for Q&amp;A. Unit economics from docs/07-pitch.md: fee $500 + origination $8,000 + inspections $1,250 + management ≈ $2,700 ≈ $12.5K; not a forecast. Regulatory framing and Smart Escrows roadmap are Q&amp;A only (docs/judge-faq.md).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rawproof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3825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Drawproof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475488"/>
            <a:ext cx="10911535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dirty="0">
                <a:solidFill>
                  <a:srgbClr val="1D1D1F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686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rawproof 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686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D1D1F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Drawproof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608015" y="60350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&amp; Fintech XRPL Hackathon  ·  Lending Track  ·  NYC 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1091153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5600" dirty="0">
                <a:solidFill>
                  <a:srgbClr val="1D1D1F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Construction money should move</a:t>
            </a:r>
            <a:endParaRPr lang="en-US" sz="56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5600" dirty="0">
                <a:solidFill>
                  <a:srgbClr val="0071E3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only when the building does.</a:t>
            </a:r>
            <a:endParaRPr lang="en-US" sz="5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1546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Investors fund a project. Each milestone's money waits in an XRP Ledger escrow until a licensed inspector's signed audit and an AI evidence review both pass.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160520"/>
            <a:ext cx="10911535" cy="205740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443484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Maple St duplex</a:t>
            </a:r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$400K construction loan  ·  5 milestones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613855" y="44531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A7F37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$160K released</a:t>
            </a:r>
            <a:pPr algn="r" indent="0" marL="0">
              <a:buNone/>
            </a:pPr>
            <a:r>
              <a:rPr lang="en-US" sz="1200" dirty="0">
                <a:solidFill>
                  <a:srgbClr val="0071E3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   $80K in review</a:t>
            </a:r>
            <a:pPr algn="r"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   $160K locked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5074920"/>
            <a:ext cx="10088575" cy="0"/>
          </a:xfrm>
          <a:prstGeom prst="line">
            <a:avLst/>
          </a:prstGeom>
          <a:noFill/>
          <a:ln w="19050">
            <a:solidFill>
              <a:srgbClr val="D2D2D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5074920"/>
            <a:ext cx="4114800" cy="0"/>
          </a:xfrm>
          <a:prstGeom prst="line">
            <a:avLst/>
          </a:prstGeom>
          <a:noFill/>
          <a:ln w="19050">
            <a:solidFill>
              <a:srgbClr val="1A7F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4983480"/>
            <a:ext cx="182880" cy="182880"/>
          </a:xfrm>
          <a:prstGeom prst="ellipse">
            <a:avLst/>
          </a:prstGeom>
          <a:solidFill>
            <a:srgbClr val="1A7F3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05840" y="53218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55595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D1D1F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$60K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5897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7F37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Released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063240" y="4983480"/>
            <a:ext cx="182880" cy="182880"/>
          </a:xfrm>
          <a:prstGeom prst="ellipse">
            <a:avLst/>
          </a:prstGeom>
          <a:solidFill>
            <a:srgbClr val="1A7F3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063240" y="53218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Framing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063240" y="55595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D1D1F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$100K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3063240" y="5897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7F37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Released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0056" y="4882896"/>
            <a:ext cx="384048" cy="384048"/>
          </a:xfrm>
          <a:prstGeom prst="ellipse">
            <a:avLst/>
          </a:prstGeom>
          <a:solidFill>
            <a:srgbClr val="0071E3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102352" y="4965192"/>
            <a:ext cx="219456" cy="219456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120640" y="53218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Roofing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55595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D1D1F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$80K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5897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071E3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In review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178040" y="4983480"/>
            <a:ext cx="182880" cy="182880"/>
          </a:xfrm>
          <a:prstGeom prst="ellipse">
            <a:avLst/>
          </a:prstGeom>
          <a:solidFill>
            <a:srgbClr val="F5F5F7"/>
          </a:solidFill>
          <a:ln w="15875">
            <a:solidFill>
              <a:srgbClr val="86868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78040" y="53218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Interiors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55595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D1D1F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$100K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5897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Locked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235440" y="4983480"/>
            <a:ext cx="182880" cy="182880"/>
          </a:xfrm>
          <a:prstGeom prst="ellipse">
            <a:avLst/>
          </a:prstGeom>
          <a:solidFill>
            <a:srgbClr val="F5F5F7"/>
          </a:solidFill>
          <a:ln w="15875">
            <a:solidFill>
              <a:srgbClr val="86868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235440" y="53218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Handover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235440" y="55595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D1D1F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$60K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9235440" y="5897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Locked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7548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1D1D1F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Construction money moves on trust, not evidence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Investors release funds on a sponsor's word, and find out what happened after the money is gone.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dirty="0">
                <a:solidFill>
                  <a:srgbClr val="CF222E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$62.8M</a:t>
            </a:r>
            <a:endParaRPr lang="en-US" sz="8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6324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D1D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raised from more than 800 investors through CrowdStreet. The sponsor diverted it, and its CEO was sentenced to 87 months in federal prison.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6052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U.S. Department of Justice, May 20, 2025</a:t>
            </a:r>
            <a:endParaRPr lang="en-US" sz="1100" dirty="0"/>
          </a:p>
        </p:txBody>
      </p:sp>
      <p:pic>
        <p:nvPicPr>
          <p:cNvPr id="7" name="Image 0" descr="WSJ headline: Missing millions and a rabbinical arbitrator, a real-estate deal gone bad hits popular crowd fun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783080"/>
            <a:ext cx="5287975" cy="1436618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16000"/>
              </a:srgbClr>
            </a:outerShdw>
          </a:effectLst>
        </p:spPr>
      </p:pic>
      <p:pic>
        <p:nvPicPr>
          <p:cNvPr id="8" name="Image 1" descr="CNBC headline: $208 million wiped out, Yieldstreet investors rack up more losses as firm rebrands to Willow Wealt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3420866"/>
            <a:ext cx="5287975" cy="1333762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16000"/>
              </a:srgbClr>
            </a:outerShdw>
          </a:effectLst>
        </p:spPr>
      </p:pic>
      <p:sp>
        <p:nvSpPr>
          <p:cNvPr id="9" name="Shape 5"/>
          <p:cNvSpPr/>
          <p:nvPr/>
        </p:nvSpPr>
        <p:spPr>
          <a:xfrm>
            <a:off x="640080" y="5029200"/>
            <a:ext cx="10911535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0080" y="5212080"/>
            <a:ext cx="33933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D1D1F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$453.5B</a:t>
            </a:r>
            <a:endParaRPr lang="en-US" sz="26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5687568"/>
            <a:ext cx="33018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U.S. construction and development loans on bank balance sheets (FDIC via NAHB, Q2 2026)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399178" y="5212080"/>
            <a:ext cx="33933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D1D1F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5–14 days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4399178" y="5687568"/>
            <a:ext cx="33018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a builder's draw request to funding at today's lenders (Built Technologies)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8158277" y="5212080"/>
            <a:ext cx="33933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D1D1F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~30%</a:t>
            </a:r>
            <a:endParaRPr lang="en-US" sz="2600" dirty="0"/>
          </a:p>
        </p:txBody>
      </p:sp>
      <p:sp>
        <p:nvSpPr>
          <p:cNvPr id="15" name="Text 11"/>
          <p:cNvSpPr txBox="1"/>
          <p:nvPr/>
        </p:nvSpPr>
        <p:spPr>
          <a:xfrm>
            <a:off x="8158277" y="5687568"/>
            <a:ext cx="33018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CRE-fraud reports to FinCEN involved misappropriated funds (FinCEN, 2011)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686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7548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1D1D1F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Every draw must pass its test suite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Like a software release: every check passes, the draw is paid. One fails, the money stays locked.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54298" cy="3749040"/>
          </a:xfrm>
          <a:prstGeom prst="roundRect">
            <a:avLst>
              <a:gd name="adj" fmla="val 4235"/>
            </a:avLst>
          </a:prstGeom>
          <a:solidFill>
            <a:srgbClr val="F5F5F7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19456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2313432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2971800"/>
            <a:ext cx="27227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D1D1F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Automated review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3401568"/>
            <a:ext cx="27227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and rule checks across every photo, invoice and audit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005840" y="4114800"/>
            <a:ext cx="2722778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4370832"/>
            <a:ext cx="182880" cy="1828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98448" y="4343400"/>
            <a:ext cx="2448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 location matches the site</a:t>
            </a:r>
            <a:endParaRPr lang="en-US" sz="14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754880"/>
            <a:ext cx="182880" cy="1828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98448" y="4727448"/>
            <a:ext cx="2448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Reused photos detected</a:t>
            </a:r>
            <a:endParaRPr lang="en-US" sz="14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138928"/>
            <a:ext cx="182880" cy="18288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98448" y="5111496"/>
            <a:ext cx="2448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Invoices match the budget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368698" y="1828800"/>
            <a:ext cx="3454298" cy="3749040"/>
          </a:xfrm>
          <a:prstGeom prst="roundRect">
            <a:avLst>
              <a:gd name="adj" fmla="val 4235"/>
            </a:avLst>
          </a:prstGeom>
          <a:solidFill>
            <a:srgbClr val="F5F5F7"/>
          </a:solidFill>
          <a:ln/>
        </p:spPr>
      </p:sp>
      <p:sp>
        <p:nvSpPr>
          <p:cNvPr id="17" name="Shape 11"/>
          <p:cNvSpPr/>
          <p:nvPr/>
        </p:nvSpPr>
        <p:spPr>
          <a:xfrm>
            <a:off x="4734458" y="219456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3330" y="2313432"/>
            <a:ext cx="329184" cy="32918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4734458" y="2971800"/>
            <a:ext cx="27227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D1D1F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Licensed inspector</a:t>
            </a:r>
            <a:endParaRPr lang="en-US" sz="2200" dirty="0"/>
          </a:p>
        </p:txBody>
      </p:sp>
      <p:sp>
        <p:nvSpPr>
          <p:cNvPr id="20" name="Text 13"/>
          <p:cNvSpPr txBox="1"/>
          <p:nvPr/>
        </p:nvSpPr>
        <p:spPr>
          <a:xfrm>
            <a:off x="4734458" y="3401568"/>
            <a:ext cx="27227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Visits the site and signs the audit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4734458" y="4114800"/>
            <a:ext cx="2722778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4458" y="4370832"/>
            <a:ext cx="182880" cy="18288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5027066" y="4343400"/>
            <a:ext cx="2448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Assigned by Drawproof</a:t>
            </a:r>
            <a:endParaRPr lang="en-US" sz="14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4458" y="4754880"/>
            <a:ext cx="182880" cy="18288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5027066" y="4727448"/>
            <a:ext cx="2448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Signs with their own key</a:t>
            </a:r>
            <a:endParaRPr lang="en-US" sz="14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4458" y="5138928"/>
            <a:ext cx="182880" cy="182880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5027066" y="5111496"/>
            <a:ext cx="2448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for every release</a:t>
            </a:r>
            <a:endParaRPr lang="en-US" sz="1400" dirty="0"/>
          </a:p>
        </p:txBody>
      </p:sp>
      <p:sp>
        <p:nvSpPr>
          <p:cNvPr id="28" name="Shape 18"/>
          <p:cNvSpPr/>
          <p:nvPr/>
        </p:nvSpPr>
        <p:spPr>
          <a:xfrm>
            <a:off x="8097317" y="1828800"/>
            <a:ext cx="3454298" cy="3749040"/>
          </a:xfrm>
          <a:prstGeom prst="roundRect">
            <a:avLst>
              <a:gd name="adj" fmla="val 4235"/>
            </a:avLst>
          </a:prstGeom>
          <a:solidFill>
            <a:srgbClr val="F5F5F7"/>
          </a:solidFill>
          <a:ln/>
        </p:spPr>
      </p:sp>
      <p:sp>
        <p:nvSpPr>
          <p:cNvPr id="29" name="Shape 19"/>
          <p:cNvSpPr/>
          <p:nvPr/>
        </p:nvSpPr>
        <p:spPr>
          <a:xfrm>
            <a:off x="8463077" y="219456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81949" y="2313432"/>
            <a:ext cx="329184" cy="329184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8463077" y="2971800"/>
            <a:ext cx="27227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D1D1F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XRP Ledger</a:t>
            </a:r>
            <a:endParaRPr lang="en-US" sz="2200" dirty="0"/>
          </a:p>
        </p:txBody>
      </p:sp>
      <p:sp>
        <p:nvSpPr>
          <p:cNvPr id="32" name="Text 21"/>
          <p:cNvSpPr txBox="1"/>
          <p:nvPr/>
        </p:nvSpPr>
        <p:spPr>
          <a:xfrm>
            <a:off x="8463077" y="3401568"/>
            <a:ext cx="27227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Holds the money and keeps the record</a:t>
            </a:r>
            <a:endParaRPr lang="en-US" sz="1400" dirty="0"/>
          </a:p>
        </p:txBody>
      </p:sp>
      <p:sp>
        <p:nvSpPr>
          <p:cNvPr id="33" name="Shape 22"/>
          <p:cNvSpPr/>
          <p:nvPr/>
        </p:nvSpPr>
        <p:spPr>
          <a:xfrm>
            <a:off x="8463077" y="4114800"/>
            <a:ext cx="2722778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3077" y="4370832"/>
            <a:ext cx="182880" cy="182880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8755685" y="4343400"/>
            <a:ext cx="2448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Vault pools investor RLUSD</a:t>
            </a:r>
            <a:endParaRPr lang="en-US" sz="1400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63077" y="4754880"/>
            <a:ext cx="182880" cy="182880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8755685" y="4727448"/>
            <a:ext cx="2448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Escrow fixes the payee</a:t>
            </a:r>
            <a:endParaRPr lang="en-US" sz="1400" dirty="0"/>
          </a:p>
        </p:txBody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63077" y="5138928"/>
            <a:ext cx="182880" cy="182880"/>
          </a:xfrm>
          <a:prstGeom prst="rect">
            <a:avLst/>
          </a:prstGeom>
        </p:spPr>
      </p:pic>
      <p:sp>
        <p:nvSpPr>
          <p:cNvPr id="39" name="Text 25"/>
          <p:cNvSpPr txBox="1"/>
          <p:nvPr/>
        </p:nvSpPr>
        <p:spPr>
          <a:xfrm>
            <a:off x="8755685" y="5111496"/>
            <a:ext cx="2448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recorded on-chain</a:t>
            </a:r>
            <a:endParaRPr lang="en-US" sz="1400" dirty="0"/>
          </a:p>
        </p:txBody>
      </p:sp>
      <p:sp>
        <p:nvSpPr>
          <p:cNvPr id="40" name="Text 26"/>
          <p:cNvSpPr txBox="1"/>
          <p:nvPr/>
        </p:nvSpPr>
        <p:spPr>
          <a:xfrm>
            <a:off x="640080" y="578815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Drawproof's release service finishes an escrow only after every required check passes. The ledger fixes where the money can go and when it expires.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686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7548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1D1D1F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From investor deposit to verified draw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XRP Ledger features carry the money. No custom smart contract holds the funds.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59536" y="2185416"/>
            <a:ext cx="8183651" cy="0"/>
          </a:xfrm>
          <a:prstGeom prst="line">
            <a:avLst/>
          </a:prstGeom>
          <a:noFill/>
          <a:ln w="19050">
            <a:solidFill>
              <a:srgbClr val="D2D2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65960"/>
            <a:ext cx="438912" cy="438912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965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51760"/>
            <a:ext cx="24078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D1D1F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Fund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081528"/>
            <a:ext cx="23164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investors deposit RLUSD into the project's vault and receive shares.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114800"/>
            <a:ext cx="1393546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4114800"/>
            <a:ext cx="13935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Asset Vault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125066" y="4114800"/>
            <a:ext cx="958291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125066" y="4114800"/>
            <a:ext cx="9582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Credentials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67964" y="1965960"/>
            <a:ext cx="438912" cy="438912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367964" y="1965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367964" y="2651760"/>
            <a:ext cx="24078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D1D1F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Lock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3367964" y="3081528"/>
            <a:ext cx="23164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vault lends to a multisig project account, with one escrow per milestone.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367964" y="4114800"/>
            <a:ext cx="1269187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367964" y="4114800"/>
            <a:ext cx="12691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Lending Protocol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28591" y="4114800"/>
            <a:ext cx="1020470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728591" y="4114800"/>
            <a:ext cx="10204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Escrow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95848" y="1965960"/>
            <a:ext cx="438912" cy="438912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095848" y="1965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095848" y="2651760"/>
            <a:ext cx="24078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D1D1F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Review</a:t>
            </a:r>
            <a:endParaRPr lang="en-US" sz="2100" dirty="0"/>
          </a:p>
        </p:txBody>
      </p:sp>
      <p:sp>
        <p:nvSpPr>
          <p:cNvPr id="24" name="Text 22"/>
          <p:cNvSpPr txBox="1"/>
          <p:nvPr/>
        </p:nvSpPr>
        <p:spPr>
          <a:xfrm>
            <a:off x="6095848" y="3081528"/>
            <a:ext cx="23164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builder uploads evidence, the inspector signs the audit, and each result is recorded.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095848" y="4114800"/>
            <a:ext cx="1455725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095848" y="4114800"/>
            <a:ext cx="145572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Signed attestations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823731" y="1965960"/>
            <a:ext cx="438912" cy="438912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823731" y="1965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823731" y="2651760"/>
            <a:ext cx="24078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D1D1F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Release or hold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8823731" y="3191256"/>
            <a:ext cx="128016" cy="128016"/>
          </a:xfrm>
          <a:prstGeom prst="ellipse">
            <a:avLst/>
          </a:prstGeom>
          <a:solidFill>
            <a:srgbClr val="1A7F3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061475" y="3127248"/>
            <a:ext cx="236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7F37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Pass  </a:t>
            </a:r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paid to the builder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823731" y="3611880"/>
            <a:ext cx="128016" cy="128016"/>
          </a:xfrm>
          <a:prstGeom prst="ellipse">
            <a:avLst/>
          </a:prstGeom>
          <a:solidFill>
            <a:srgbClr val="CF222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061475" y="3547872"/>
            <a:ext cx="236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222E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Fail  </a:t>
            </a:r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stays locked in escrow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823731" y="4114800"/>
            <a:ext cx="1020470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823731" y="4114800"/>
            <a:ext cx="10204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EscrowFinish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935642" y="4114800"/>
            <a:ext cx="958291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935642" y="4114800"/>
            <a:ext cx="9582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CancelAfter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40080" y="4846320"/>
            <a:ext cx="10911535" cy="1188720"/>
          </a:xfrm>
          <a:prstGeom prst="roundRect">
            <a:avLst>
              <a:gd name="adj" fmla="val 12308"/>
            </a:avLst>
          </a:prstGeom>
          <a:solidFill>
            <a:srgbClr val="E8F1FC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1051560" y="502920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0071E3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28</a:t>
            </a:r>
            <a:endParaRPr lang="en-US" sz="5400" dirty="0"/>
          </a:p>
        </p:txBody>
      </p:sp>
      <p:sp>
        <p:nvSpPr>
          <p:cNvPr id="40" name="Text 38"/>
          <p:cNvSpPr txBox="1"/>
          <p:nvPr/>
        </p:nvSpPr>
        <p:spPr>
          <a:xfrm>
            <a:off x="2331720" y="512064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1D1F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XRPL Devnet transactions run one project's full money path</a:t>
            </a:r>
            <a:endParaRPr lang="en-US" sz="1700" dirty="0"/>
          </a:p>
        </p:txBody>
      </p:sp>
      <p:sp>
        <p:nvSpPr>
          <p:cNvPr id="41" name="Text 39"/>
          <p:cNvSpPr txBox="1"/>
          <p:nvPr/>
        </p:nvSpPr>
        <p:spPr>
          <a:xfrm>
            <a:off x="2331720" y="546811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Credentials, vault deposits, loan to a multisig project account, milestone escrows, signed audit record and release. Every transaction links to the public explorer.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686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7548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1D1D1F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Demo: one draw released, one held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979615" y="6035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Recorded  ·  1:40  ·  XRPL Devnet  ·  Edited for time</a:t>
            </a:r>
            <a:endParaRPr lang="en-US" sz="1200" dirty="0"/>
          </a:p>
        </p:txBody>
      </p:sp>
      <p:sp>
        <p:nvSpPr>
          <p:cNvPr id="4" name="VIDEO_PLACEHOLDER"/>
          <p:cNvSpPr/>
          <p:nvPr/>
        </p:nvSpPr>
        <p:spPr>
          <a:xfrm>
            <a:off x="640080" y="1280160"/>
            <a:ext cx="7772400" cy="4371975"/>
          </a:xfrm>
          <a:prstGeom prst="roundRect">
            <a:avLst>
              <a:gd name="adj" fmla="val 2510"/>
            </a:avLst>
          </a:prstGeom>
          <a:solidFill>
            <a:srgbClr val="F5F5F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0" y="2917508"/>
            <a:ext cx="822960" cy="822960"/>
          </a:xfrm>
          <a:prstGeom prst="ellipse">
            <a:avLst/>
          </a:prstGeom>
          <a:solidFill>
            <a:srgbClr val="1D1D1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3164396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9233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the demo video: Insert › Video › This Device, sized to this frame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869680" y="1280160"/>
            <a:ext cx="2681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What to watch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929116" y="1920240"/>
            <a:ext cx="0" cy="3072384"/>
          </a:xfrm>
          <a:prstGeom prst="line">
            <a:avLst/>
          </a:prstGeom>
          <a:noFill/>
          <a:ln w="15875">
            <a:solidFill>
              <a:srgbClr val="D2D2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869680" y="1865376"/>
            <a:ext cx="118872" cy="118872"/>
          </a:xfrm>
          <a:prstGeom prst="ellipse">
            <a:avLst/>
          </a:prstGeom>
          <a:solidFill>
            <a:srgbClr val="86868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189720" y="1828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71E3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0:00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189720" y="2057400"/>
            <a:ext cx="2361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Maple St funded, draws locked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869680" y="2633472"/>
            <a:ext cx="118872" cy="118872"/>
          </a:xfrm>
          <a:prstGeom prst="ellipse">
            <a:avLst/>
          </a:prstGeom>
          <a:solidFill>
            <a:srgbClr val="86868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189720" y="259689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71E3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0:10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189720" y="2825496"/>
            <a:ext cx="2361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Inspector signs the site audit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869680" y="3401568"/>
            <a:ext cx="118872" cy="118872"/>
          </a:xfrm>
          <a:prstGeom prst="ellipse">
            <a:avLst/>
          </a:prstGeom>
          <a:solidFill>
            <a:srgbClr val="86868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189720" y="33649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71E3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0:30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189720" y="3593592"/>
            <a:ext cx="2361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Checks run with readable reasons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869680" y="4169664"/>
            <a:ext cx="118872" cy="118872"/>
          </a:xfrm>
          <a:prstGeom prst="ellipse">
            <a:avLst/>
          </a:prstGeom>
          <a:solidFill>
            <a:srgbClr val="1A7F37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189720" y="4133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7F37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0:50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9189720" y="4361688"/>
            <a:ext cx="2361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Milestone 1 passes and is paid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869680" y="4937760"/>
            <a:ext cx="118872" cy="118872"/>
          </a:xfrm>
          <a:prstGeom prst="ellipse">
            <a:avLst/>
          </a:prstGeom>
          <a:solidFill>
            <a:srgbClr val="CF222E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9189720" y="490118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222E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1:10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9189720" y="5129784"/>
            <a:ext cx="2361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Milestone 2 reuses a photo and stays locked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" y="5853303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Devnet prototype with a mock RLUSD token. The AI mode is labeled on screen. Not an offer to invest.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686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D1D1F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Drawproof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608015" y="60350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&amp; Fintech XRPL Hackathon  ·  Lending Track  ·  NYC 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5486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5600" dirty="0">
                <a:solidFill>
                  <a:srgbClr val="1D1D1F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Thank you.</a:t>
            </a:r>
            <a:endParaRPr lang="en-US" sz="56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5600" dirty="0">
                <a:solidFill>
                  <a:srgbClr val="0071E3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Questions?</a:t>
            </a:r>
            <a:endParaRPr lang="en-US" sz="5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91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What we built this weekend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70332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8F1F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3831336"/>
            <a:ext cx="256032" cy="2560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368503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1D1F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Milestone escrows on the XRP Ledger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39776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draw can only go to the builder or back to the project.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457200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8F1F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470001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71600" y="455371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1D1F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A test suite for every draw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371600" y="48463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Signed inspector audit plus AI evidence review gate each release.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544068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8F1F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5568696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542239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1D1F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Full money path on XRPL Devnet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371600" y="57150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 transactions: vault, loan, escrows, audit record, release.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537960" y="1325880"/>
            <a:ext cx="5013655" cy="4892040"/>
          </a:xfrm>
          <a:prstGeom prst="roundRect">
            <a:avLst>
              <a:gd name="adj" fmla="val 3364"/>
            </a:avLst>
          </a:prstGeom>
          <a:solidFill>
            <a:srgbClr val="F5F5F7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6949440" y="1691640"/>
            <a:ext cx="41906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D1D1F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How Drawproof earns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6949440" y="22860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Verification fee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9052560" y="2286000"/>
            <a:ext cx="2087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 project, builder pays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6949440" y="2724912"/>
            <a:ext cx="4190695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949440" y="28346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Origination fee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9052560" y="2834640"/>
            <a:ext cx="2087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1.5–2% at loan close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6949440" y="3273552"/>
            <a:ext cx="4190695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949440" y="33832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Management fee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9052560" y="3383280"/>
            <a:ext cx="2087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~10% of loan interest</a:t>
            </a:r>
            <a:endParaRPr lang="en-US" sz="1500" dirty="0"/>
          </a:p>
        </p:txBody>
      </p:sp>
      <p:sp>
        <p:nvSpPr>
          <p:cNvPr id="28" name="Shape 23"/>
          <p:cNvSpPr/>
          <p:nvPr/>
        </p:nvSpPr>
        <p:spPr>
          <a:xfrm>
            <a:off x="6949440" y="3822192"/>
            <a:ext cx="4190695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6949440" y="39319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First-loss cover</a:t>
            </a:r>
            <a:endParaRPr lang="en-US" sz="1500" dirty="0"/>
          </a:p>
        </p:txBody>
      </p:sp>
      <p:sp>
        <p:nvSpPr>
          <p:cNvPr id="30" name="Text 25"/>
          <p:cNvSpPr txBox="1"/>
          <p:nvPr/>
        </p:nvSpPr>
        <p:spPr>
          <a:xfrm>
            <a:off x="9052560" y="3931920"/>
            <a:ext cx="2087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1A7F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post 10%, lose first</a:t>
            </a:r>
            <a:endParaRPr lang="en-US" sz="1500" dirty="0"/>
          </a:p>
        </p:txBody>
      </p:sp>
      <p:sp>
        <p:nvSpPr>
          <p:cNvPr id="31" name="Text 26"/>
          <p:cNvSpPr txBox="1"/>
          <p:nvPr/>
        </p:nvSpPr>
        <p:spPr>
          <a:xfrm>
            <a:off x="6949440" y="4480560"/>
            <a:ext cx="4190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$400K duplex, 9 months, 5 draws ≈ $12.5K platform revenue (~3%). Illustrative, not a forecast.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6949440" y="5120640"/>
            <a:ext cx="4190695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6949440" y="5349240"/>
            <a:ext cx="4190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D1D1F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Next: </a:t>
            </a:r>
            <a:pPr indent="0" marL="0">
              <a:buNone/>
            </a:pPr>
            <a:r>
              <a:rPr lang="en-US" sz="1800" dirty="0">
                <a:solidFill>
                  <a:srgbClr val="0071E3"/>
                </a:solidFill>
                <a:latin typeface="Aptos SemiBold" pitchFamily="34" charset="0"/>
                <a:ea typeface="Aptos SemiBold" pitchFamily="34" charset="-122"/>
                <a:cs typeface="Aptos SemiBold" pitchFamily="34" charset="-120"/>
              </a:rPr>
              <a:t>one construction-lending pilot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Drawproof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Drawproof pitch</dc:title>
  <dc:subject>PptxGenJS Presentation</dc:subject>
  <dc:creator>PptxGenJS</dc:creator>
  <cp:lastModifiedBy>PptxGenJS</cp:lastModifiedBy>
  <cp:revision>1</cp:revision>
  <dcterms:created xsi:type="dcterms:W3CDTF">2026-10-25T06:47:35Z</dcterms:created>
  <dcterms:modified xsi:type="dcterms:W3CDTF">2026-10-25T06:47:35Z</dcterms:modified>
</cp:coreProperties>
</file>