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4" r:id="rId2"/>
    <p:sldId id="267" r:id="rId3"/>
    <p:sldId id="26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87"/>
  </p:normalViewPr>
  <p:slideViewPr>
    <p:cSldViewPr snapToGrid="0">
      <p:cViewPr varScale="1">
        <p:scale>
          <a:sx n="108" d="100"/>
          <a:sy n="108" d="100"/>
        </p:scale>
        <p:origin x="216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C7A77-9169-3855-CFFD-4E30DDF12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1A4EAA-CA1F-9251-0953-E9FB22E27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A2B18-9B79-D07F-0D34-EA934B29F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A1C3-0901-4246-BFC1-A5E012CA0E1C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16863-05E4-6F32-3747-CFACE1509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6043B-CCAE-5A5E-9FCB-2F09B3A87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16-7D26-5F4B-8B49-16570E69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79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F63E2-030A-BC78-F4E8-58B43CC25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9F9F2-5C47-83E0-C184-914C8D207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75BB6-8C38-AC46-84E4-96D8ED899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A1C3-0901-4246-BFC1-A5E012CA0E1C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4FEE6-0F59-62CB-925E-7997EA7F8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B8B5D-5020-C615-5802-E2FEA953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16-7D26-5F4B-8B49-16570E69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17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14E3C-0569-3C29-093E-583B4E159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24429-73A0-40FD-B787-9D90F5DDB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0AECF-DA3D-C137-0784-C8DEC6F9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A1C3-0901-4246-BFC1-A5E012CA0E1C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69BEB-74B7-EFE3-99E9-6A44BBEC9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11EDD-5CB3-6BA5-3365-42C5620EC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16-7D26-5F4B-8B49-16570E69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176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667A-1A0F-7FB7-8DFF-2E24722D5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02C72-0CBC-C2CD-9A81-732A16C93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13598E-5A2F-3F2E-B2DA-24D767E55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4BE5B-A830-8FE6-2376-EA59F1D0B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A1C3-0901-4246-BFC1-A5E012CA0E1C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A355A-C8B7-5D30-153F-FF6E81C51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7E72C-BE56-9E23-73E9-028C5FA1D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16-7D26-5F4B-8B49-16570E69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231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014D1-5D1F-A850-30D4-B11DF408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F3415-3192-E215-97B2-68FDB0780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E97EA-446F-5E2B-0D51-C1322C427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BFC37-60BC-228B-2718-4B911B8F1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7B3696-264C-CB92-8595-ED778B6EC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090386-8D17-1D66-D631-7E1F06749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A1C3-0901-4246-BFC1-A5E012CA0E1C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263DE8-0E64-BB8E-04F6-1F3B1D184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C16C12-337F-6922-6E4A-57B04F76D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16-7D26-5F4B-8B49-16570E69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4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D6A922-3E6C-B1F4-C667-D06CDFF5C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A1C3-0901-4246-BFC1-A5E012CA0E1C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F47545-D857-66FD-C2DD-1BE4AB98A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9A24B-70E0-64D7-F035-12F88D13A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16-7D26-5F4B-8B49-16570E69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432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CA9A5-1988-6FD4-050A-8DD4377F7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1FB28-6EC3-A700-8DBA-58A535B91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1FE50-D66D-29EA-93F8-90310C3FE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13AB0-EF2F-3458-2BC1-9E4E10395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A1C3-0901-4246-BFC1-A5E012CA0E1C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62186-2283-9424-F114-63CB4D16F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27534-03E3-326A-BB9F-9A1D6FDF4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16-7D26-5F4B-8B49-16570E69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8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7BB39-4762-527E-43D3-80681D34F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18E950-B422-615E-27F4-13A1D812A9D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D946A-6CF0-8F20-144E-E6CA99A51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8C11B-E891-7AB9-45B2-51811DEA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A1C3-0901-4246-BFC1-A5E012CA0E1C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262CB-668E-059E-B903-AEEBE68C5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15A7D-24EA-291B-C400-047BC6203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16-7D26-5F4B-8B49-16570E69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41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16181-703C-ED60-A31E-985724FD5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93F932-ADDB-7B19-AED4-69C41A72A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82202-C3B8-7CC2-E06D-62528F2EF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A1C3-0901-4246-BFC1-A5E012CA0E1C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C3908-EF4D-FD98-97EA-E8FEB3BA1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EE297-8D81-013D-F363-77082FA3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16-7D26-5F4B-8B49-16570E69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14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6CD6B-0DF5-6674-F709-22161731E1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D5BA1-CEC0-F324-8118-AC7AA5C57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28842-14DB-80C8-4207-858657C64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A1C3-0901-4246-BFC1-A5E012CA0E1C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CCB47-4116-E105-FDD9-C17582B53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4FCB9-60F0-AF15-93B8-C9447C69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DB16-7D26-5F4B-8B49-16570E69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26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B85C42-8764-A5BC-4368-8ADC2E08B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792" cy="96012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829DC-5CD3-F486-352B-3512B5599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691640"/>
            <a:ext cx="10908792" cy="46634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AC01E-73CF-2EEA-56E1-581FA5E024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5989320"/>
            <a:ext cx="2743200" cy="36576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600">
                <a:solidFill>
                  <a:schemeClr val="tx2"/>
                </a:solidFill>
              </a:defRPr>
            </a:lvl1pPr>
          </a:lstStyle>
          <a:p>
            <a:fld id="{3A49A1C3-0901-4246-BFC1-A5E012CA0E1C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55616-6E5B-D6C4-C3AE-0C0111355C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40480" y="5989320"/>
            <a:ext cx="4507992" cy="36576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6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220D4-CB01-5420-064F-80CE1C5E9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5672" y="5989320"/>
            <a:ext cx="2743200" cy="36576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600">
                <a:solidFill>
                  <a:schemeClr val="tx2"/>
                </a:solidFill>
              </a:defRPr>
            </a:lvl1pPr>
          </a:lstStyle>
          <a:p>
            <a:fld id="{45E5DB16-7D26-5F4B-8B49-16570E699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98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txStyles>
    <p:titleStyle>
      <a:lvl1pPr marL="0" indent="0" algn="l" defTabSz="914400" rtl="0" eaLnBrk="1" latinLnBrk="0" hangingPunct="1">
        <a:lnSpc>
          <a:spcPct val="95000"/>
        </a:lnSpc>
        <a:spcBef>
          <a:spcPts val="0"/>
        </a:spcBef>
        <a:buNone/>
        <a:defRPr sz="4000" b="0" kern="1200">
          <a:solidFill>
            <a:schemeClr val="tx1"/>
          </a:solidFill>
          <a:latin typeface="Aptos SemiBold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None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600"/>
        </a:spcBef>
        <a:buNone/>
        <a:defRPr sz="2000" b="0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600"/>
        </a:spcBef>
        <a:buNone/>
        <a:defRPr sz="2000" b="0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600"/>
        </a:spcBef>
        <a:buNone/>
        <a:defRPr sz="2000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600"/>
        </a:spcBef>
        <a:buNone/>
        <a:defRPr sz="2000" b="0" kern="120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buNone/>
        <a:defRPr sz="2000" b="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600"/>
        </a:spcBef>
        <a:buNone/>
        <a:defRPr sz="2000" b="0" kern="120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600"/>
        </a:spcBef>
        <a:buNone/>
        <a:defRPr sz="2000" b="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600"/>
        </a:spcBef>
        <a:buNone/>
        <a:defRPr sz="2000" b="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"/>
          <p:cNvSpPr>
            <a:spLocks noGrp="1"/>
          </p:cNvSpPr>
          <p:nvPr>
            <p:ph type="ctrTitle"/>
          </p:nvPr>
        </p:nvSpPr>
        <p:spPr>
          <a:xfrm>
            <a:off x="640080" y="502920"/>
            <a:ext cx="5715000" cy="731520"/>
          </a:xfrm>
        </p:spPr>
        <p:txBody>
          <a:bodyPr vert="horz"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800" dirty="0">
                <a:solidFill>
                  <a:schemeClr val="tx1"/>
                </a:solidFill>
              </a:rPr>
              <a:t>Drawproof</a:t>
            </a:r>
          </a:p>
        </p:txBody>
      </p:sp>
      <p:sp>
        <p:nvSpPr>
          <p:cNvPr id="3" name="Main line"/>
          <p:cNvSpPr>
            <a:spLocks noGrp="1"/>
          </p:cNvSpPr>
          <p:nvPr>
            <p:ph type="subTitle" idx="1"/>
          </p:nvPr>
        </p:nvSpPr>
        <p:spPr>
          <a:xfrm>
            <a:off x="640080" y="1874520"/>
            <a:ext cx="10908792" cy="1691639"/>
          </a:xfrm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spc="-50" dirty="0">
                <a:solidFill>
                  <a:schemeClr val="tx1"/>
                </a:solidFill>
                <a:latin typeface="Aptos SemiBold"/>
              </a:rPr>
              <a:t>Construction money should move</a:t>
            </a:r>
            <a:br>
              <a:rPr lang="en-US" sz="5400" dirty="0"/>
            </a:br>
            <a:r>
              <a:rPr lang="en-US" sz="5400" b="0" spc="-50" dirty="0">
                <a:solidFill>
                  <a:srgbClr val="0071E3"/>
                </a:solidFill>
                <a:latin typeface="Aptos SemiBold"/>
              </a:rPr>
              <a:t>only when the building does</a:t>
            </a:r>
          </a:p>
        </p:txBody>
      </p:sp>
      <p:cxnSp>
        <p:nvCxnSpPr>
          <p:cNvPr id="10" name="Rail segment"/>
          <p:cNvCxnSpPr/>
          <p:nvPr/>
        </p:nvCxnSpPr>
        <p:spPr>
          <a:xfrm>
            <a:off x="716280" y="4630385"/>
            <a:ext cx="4389120" cy="0"/>
          </a:xfrm>
          <a:prstGeom prst="line">
            <a:avLst/>
          </a:prstGeom>
          <a:ln w="19050">
            <a:solidFill>
              <a:srgbClr val="1D1D1F"/>
            </a:solidFill>
          </a:ln>
        </p:spPr>
      </p:cxnSp>
      <p:cxnSp>
        <p:nvCxnSpPr>
          <p:cNvPr id="11" name="Rail segment"/>
          <p:cNvCxnSpPr/>
          <p:nvPr/>
        </p:nvCxnSpPr>
        <p:spPr>
          <a:xfrm>
            <a:off x="5105400" y="4630385"/>
            <a:ext cx="6443980" cy="0"/>
          </a:xfrm>
          <a:prstGeom prst="line">
            <a:avLst/>
          </a:prstGeom>
          <a:ln w="19050">
            <a:solidFill>
              <a:srgbClr val="D2D2D7"/>
            </a:solidFill>
          </a:ln>
        </p:spPr>
      </p:cxnSp>
      <p:sp>
        <p:nvSpPr>
          <p:cNvPr id="12" name="Rail node"/>
          <p:cNvSpPr/>
          <p:nvPr/>
        </p:nvSpPr>
        <p:spPr>
          <a:xfrm>
            <a:off x="640080" y="4554185"/>
            <a:ext cx="152400" cy="15240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ail node"/>
          <p:cNvSpPr/>
          <p:nvPr/>
        </p:nvSpPr>
        <p:spPr>
          <a:xfrm>
            <a:off x="2821940" y="4554185"/>
            <a:ext cx="152400" cy="15240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ail node"/>
          <p:cNvSpPr/>
          <p:nvPr/>
        </p:nvSpPr>
        <p:spPr>
          <a:xfrm>
            <a:off x="5003800" y="4528785"/>
            <a:ext cx="203200" cy="203200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ail node"/>
          <p:cNvSpPr/>
          <p:nvPr/>
        </p:nvSpPr>
        <p:spPr>
          <a:xfrm>
            <a:off x="7185660" y="4554185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2D2D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ail node"/>
          <p:cNvSpPr/>
          <p:nvPr/>
        </p:nvSpPr>
        <p:spPr>
          <a:xfrm>
            <a:off x="9367520" y="4554185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2D2D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Milestone 1"/>
          <p:cNvSpPr txBox="1"/>
          <p:nvPr/>
        </p:nvSpPr>
        <p:spPr>
          <a:xfrm>
            <a:off x="640080" y="4884385"/>
            <a:ext cx="2029460" cy="121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6E6E73"/>
                </a:solidFill>
              </a:rPr>
              <a:t>Foundation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600" b="0" dirty="0">
                <a:solidFill>
                  <a:srgbClr val="1D1D1F"/>
                </a:solidFill>
                <a:latin typeface="Aptos SemiBold"/>
              </a:rPr>
              <a:t>$240K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600" b="0" dirty="0">
                <a:solidFill>
                  <a:srgbClr val="1A7F37"/>
                </a:solidFill>
                <a:latin typeface="Aptos SemiBold"/>
              </a:rPr>
              <a:t>Released</a:t>
            </a:r>
          </a:p>
        </p:txBody>
      </p:sp>
      <p:sp>
        <p:nvSpPr>
          <p:cNvPr id="18" name="Milestone 2"/>
          <p:cNvSpPr txBox="1"/>
          <p:nvPr/>
        </p:nvSpPr>
        <p:spPr>
          <a:xfrm>
            <a:off x="2821940" y="4884385"/>
            <a:ext cx="2029460" cy="121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6E6E73"/>
                </a:solidFill>
              </a:rPr>
              <a:t>Framing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600" b="0" dirty="0">
                <a:solidFill>
                  <a:srgbClr val="1D1D1F"/>
                </a:solidFill>
                <a:latin typeface="Aptos SemiBold"/>
              </a:rPr>
              <a:t>$360K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600" b="0" dirty="0">
                <a:solidFill>
                  <a:srgbClr val="1A7F37"/>
                </a:solidFill>
                <a:latin typeface="Aptos SemiBold"/>
              </a:rPr>
              <a:t>Released</a:t>
            </a:r>
          </a:p>
        </p:txBody>
      </p:sp>
      <p:sp>
        <p:nvSpPr>
          <p:cNvPr id="19" name="Milestone 3"/>
          <p:cNvSpPr txBox="1"/>
          <p:nvPr/>
        </p:nvSpPr>
        <p:spPr>
          <a:xfrm>
            <a:off x="5003800" y="4884385"/>
            <a:ext cx="2029460" cy="121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6E6E73"/>
                </a:solidFill>
              </a:rPr>
              <a:t>Roofing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600" b="0" dirty="0">
                <a:solidFill>
                  <a:srgbClr val="1D1D1F"/>
                </a:solidFill>
                <a:latin typeface="Aptos SemiBold"/>
              </a:rPr>
              <a:t>$180K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600" b="0" dirty="0">
                <a:solidFill>
                  <a:srgbClr val="0071E3"/>
                </a:solidFill>
                <a:latin typeface="Aptos SemiBold"/>
              </a:rPr>
              <a:t>In review</a:t>
            </a:r>
          </a:p>
        </p:txBody>
      </p:sp>
      <p:sp>
        <p:nvSpPr>
          <p:cNvPr id="20" name="Milestone 4"/>
          <p:cNvSpPr txBox="1"/>
          <p:nvPr/>
        </p:nvSpPr>
        <p:spPr>
          <a:xfrm>
            <a:off x="7185660" y="4884385"/>
            <a:ext cx="2029460" cy="121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6E6E73"/>
                </a:solidFill>
              </a:rPr>
              <a:t>Interiors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600" b="0" dirty="0">
                <a:solidFill>
                  <a:srgbClr val="1D1D1F"/>
                </a:solidFill>
                <a:latin typeface="Aptos SemiBold"/>
              </a:rPr>
              <a:t>$300K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600" b="0" dirty="0">
                <a:solidFill>
                  <a:srgbClr val="6E6E73"/>
                </a:solidFill>
                <a:latin typeface="Aptos SemiBold"/>
              </a:rPr>
              <a:t>Locked</a:t>
            </a:r>
          </a:p>
        </p:txBody>
      </p:sp>
      <p:sp>
        <p:nvSpPr>
          <p:cNvPr id="21" name="Milestone 5"/>
          <p:cNvSpPr txBox="1"/>
          <p:nvPr/>
        </p:nvSpPr>
        <p:spPr>
          <a:xfrm>
            <a:off x="9367520" y="4884385"/>
            <a:ext cx="2029460" cy="121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6E6E73"/>
                </a:solidFill>
              </a:rPr>
              <a:t>Handover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600" b="0" dirty="0">
                <a:solidFill>
                  <a:srgbClr val="1D1D1F"/>
                </a:solidFill>
                <a:latin typeface="Aptos SemiBold"/>
              </a:rPr>
              <a:t>$120K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600" b="0" dirty="0">
                <a:solidFill>
                  <a:srgbClr val="6E6E73"/>
                </a:solidFill>
                <a:latin typeface="Aptos SemiBold"/>
              </a:rPr>
              <a:t>Locked</a:t>
            </a:r>
          </a:p>
        </p:txBody>
      </p:sp>
      <p:sp>
        <p:nvSpPr>
          <p:cNvPr id="22" name="Example project"/>
          <p:cNvSpPr txBox="1"/>
          <p:nvPr/>
        </p:nvSpPr>
        <p:spPr>
          <a:xfrm>
            <a:off x="640080" y="3994896"/>
            <a:ext cx="2856134" cy="52118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0" dirty="0">
                <a:solidFill>
                  <a:srgbClr val="1D1D1F"/>
                </a:solidFill>
                <a:latin typeface="Aptos SemiBold"/>
              </a:rPr>
              <a:t>Tilted Tower Townhomes</a:t>
            </a:r>
          </a:p>
        </p:txBody>
      </p:sp>
    </p:spTree>
    <p:extLst>
      <p:ext uri="{BB962C8B-B14F-4D97-AF65-F5344CB8AC3E}">
        <p14:creationId xmlns:p14="http://schemas.microsoft.com/office/powerpoint/2010/main" val="2784143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/>
                </a:solidFill>
              </a:rPr>
              <a:t>When project funds lose accountability</a:t>
            </a:r>
          </a:p>
        </p:txBody>
      </p:sp>
      <p:sp>
        <p:nvSpPr>
          <p:cNvPr id="3" name="Statistic"/>
          <p:cNvSpPr txBox="1"/>
          <p:nvPr/>
        </p:nvSpPr>
        <p:spPr>
          <a:xfrm>
            <a:off x="8087096" y="1737360"/>
            <a:ext cx="3037312" cy="10972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7200" dirty="0">
                <a:solidFill>
                  <a:srgbClr val="CF222E"/>
                </a:solidFill>
                <a:latin typeface="Aptos SemiBold"/>
              </a:rPr>
              <a:t>$62.8M</a:t>
            </a:r>
          </a:p>
        </p:txBody>
      </p:sp>
      <p:sp>
        <p:nvSpPr>
          <p:cNvPr id="4" name="Statistic explanation"/>
          <p:cNvSpPr txBox="1"/>
          <p:nvPr/>
        </p:nvSpPr>
        <p:spPr>
          <a:xfrm>
            <a:off x="8087096" y="2895600"/>
            <a:ext cx="3464824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dirty="0">
                <a:solidFill>
                  <a:srgbClr val="CF222E"/>
                </a:solidFill>
                <a:latin typeface="Aptos SemiBold"/>
              </a:rPr>
              <a:t>Stolen</a:t>
            </a:r>
            <a:r>
              <a:rPr lang="en-US" sz="2600" dirty="0">
                <a:solidFill>
                  <a:schemeClr val="tx1"/>
                </a:solidFill>
              </a:rPr>
              <a:t> from 800+ investors</a:t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via CrowdStreet, a real estate</a:t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crowdfunding platform</a:t>
            </a:r>
          </a:p>
        </p:txBody>
      </p:sp>
      <p:sp>
        <p:nvSpPr>
          <p:cNvPr id="5" name="Focus"/>
          <p:cNvSpPr txBox="1"/>
          <p:nvPr/>
        </p:nvSpPr>
        <p:spPr>
          <a:xfrm>
            <a:off x="640080" y="5207000"/>
            <a:ext cx="1091184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l"/>
            <a:r>
              <a:rPr lang="en-US" sz="2600" dirty="0">
                <a:solidFill>
                  <a:schemeClr val="tx2"/>
                </a:solidFill>
              </a:rPr>
              <a:t>Our focus:  </a:t>
            </a:r>
            <a:r>
              <a:rPr lang="en-US" sz="2600" dirty="0">
                <a:solidFill>
                  <a:schemeClr val="tx1"/>
                </a:solidFill>
                <a:latin typeface="Aptos SemiBold"/>
              </a:rPr>
              <a:t>evidence</a:t>
            </a:r>
            <a:r>
              <a:rPr lang="en-US" sz="2600" dirty="0">
                <a:solidFill>
                  <a:srgbClr val="0071E3"/>
                </a:solidFill>
              </a:rPr>
              <a:t>  →  </a:t>
            </a:r>
            <a:r>
              <a:rPr lang="en-US" sz="2600" dirty="0">
                <a:solidFill>
                  <a:schemeClr val="tx1"/>
                </a:solidFill>
                <a:latin typeface="Aptos SemiBold"/>
              </a:rPr>
              <a:t>review</a:t>
            </a:r>
            <a:r>
              <a:rPr lang="en-US" sz="2600" dirty="0">
                <a:solidFill>
                  <a:srgbClr val="0071E3"/>
                </a:solidFill>
              </a:rPr>
              <a:t>  →  </a:t>
            </a:r>
            <a:r>
              <a:rPr lang="en-US" sz="2600" dirty="0">
                <a:solidFill>
                  <a:schemeClr val="tx1"/>
                </a:solidFill>
                <a:latin typeface="Aptos SemiBold"/>
              </a:rPr>
              <a:t>payment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DB90C7-6578-8B59-3472-D1C746DC8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961759" cy="16196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8881F8-7831-3D39-8B5E-D526030A2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82593"/>
            <a:ext cx="5961759" cy="150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01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47C18-7407-9B92-8081-388346E3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tied to payment</a:t>
            </a:r>
          </a:p>
        </p:txBody>
      </p:sp>
      <p:sp>
        <p:nvSpPr>
          <p:cNvPr id="10" name="Row label 1"/>
          <p:cNvSpPr txBox="1"/>
          <p:nvPr/>
        </p:nvSpPr>
        <p:spPr>
          <a:xfrm>
            <a:off x="640080" y="20726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chemeClr val="tx1"/>
                </a:solidFill>
                <a:latin typeface="Aptos SemiBold"/>
              </a:rPr>
              <a:t>AI</a:t>
            </a:r>
          </a:p>
        </p:txBody>
      </p:sp>
      <p:sp>
        <p:nvSpPr>
          <p:cNvPr id="11" name="Row text 1"/>
          <p:cNvSpPr txBox="1"/>
          <p:nvPr/>
        </p:nvSpPr>
        <p:spPr>
          <a:xfrm>
            <a:off x="3319780" y="2072640"/>
            <a:ext cx="82321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chemeClr val="tx1"/>
                </a:solidFill>
              </a:rPr>
              <a:t>Reviews evidence consistency</a:t>
            </a:r>
          </a:p>
        </p:txBody>
      </p:sp>
      <p:sp>
        <p:nvSpPr>
          <p:cNvPr id="12" name="Row label 2"/>
          <p:cNvSpPr txBox="1"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chemeClr val="tx1"/>
                </a:solidFill>
                <a:latin typeface="Aptos SemiBold"/>
              </a:rPr>
              <a:t>Inspector</a:t>
            </a:r>
          </a:p>
        </p:txBody>
      </p:sp>
      <p:sp>
        <p:nvSpPr>
          <p:cNvPr id="13" name="Row text 2"/>
          <p:cNvSpPr txBox="1"/>
          <p:nvPr/>
        </p:nvSpPr>
        <p:spPr>
          <a:xfrm>
            <a:off x="3319780" y="3200400"/>
            <a:ext cx="82321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chemeClr val="tx1"/>
                </a:solidFill>
              </a:rPr>
              <a:t>Signs the site audit</a:t>
            </a:r>
          </a:p>
        </p:txBody>
      </p:sp>
      <p:sp>
        <p:nvSpPr>
          <p:cNvPr id="14" name="Row label 3"/>
          <p:cNvSpPr txBox="1"/>
          <p:nvPr/>
        </p:nvSpPr>
        <p:spPr>
          <a:xfrm>
            <a:off x="640080" y="43281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chemeClr val="tx1"/>
                </a:solidFill>
                <a:latin typeface="Aptos SemiBold"/>
              </a:rPr>
              <a:t>XRP Ledger</a:t>
            </a:r>
          </a:p>
        </p:txBody>
      </p:sp>
      <p:sp>
        <p:nvSpPr>
          <p:cNvPr id="15" name="Row text 3"/>
          <p:cNvSpPr txBox="1"/>
          <p:nvPr/>
        </p:nvSpPr>
        <p:spPr>
          <a:xfrm>
            <a:off x="3319780" y="4328160"/>
            <a:ext cx="82321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chemeClr val="tx1"/>
                </a:solidFill>
              </a:rPr>
              <a:t>Records proof and fixes escrow destinations</a:t>
            </a:r>
          </a:p>
        </p:txBody>
      </p:sp>
      <p:cxnSp>
        <p:nvCxnSpPr>
          <p:cNvPr id="16" name="Row rule 1"/>
          <p:cNvCxnSpPr/>
          <p:nvPr/>
        </p:nvCxnSpPr>
        <p:spPr>
          <a:xfrm>
            <a:off x="640080" y="2865120"/>
            <a:ext cx="10911840" cy="0"/>
          </a:xfrm>
          <a:prstGeom prst="line">
            <a:avLst/>
          </a:prstGeom>
          <a:ln w="9525">
            <a:solidFill>
              <a:srgbClr val="D2D2D7"/>
            </a:solidFill>
          </a:ln>
        </p:spPr>
      </p:cxnSp>
      <p:cxnSp>
        <p:nvCxnSpPr>
          <p:cNvPr id="17" name="Row rule 2"/>
          <p:cNvCxnSpPr/>
          <p:nvPr/>
        </p:nvCxnSpPr>
        <p:spPr>
          <a:xfrm>
            <a:off x="640080" y="3992880"/>
            <a:ext cx="10911840" cy="0"/>
          </a:xfrm>
          <a:prstGeom prst="line">
            <a:avLst/>
          </a:prstGeom>
          <a:ln w="9525">
            <a:solidFill>
              <a:srgbClr val="D2D2D7"/>
            </a:solidFill>
          </a:ln>
        </p:spPr>
      </p:cxnSp>
      <p:sp>
        <p:nvSpPr>
          <p:cNvPr id="18" name="Clarification"/>
          <p:cNvSpPr txBox="1"/>
          <p:nvPr/>
        </p:nvSpPr>
        <p:spPr>
          <a:xfrm>
            <a:off x="640080" y="5537200"/>
            <a:ext cx="1091184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2"/>
                </a:solidFill>
              </a:rPr>
              <a:t>Our platform controls release timing</a:t>
            </a:r>
          </a:p>
        </p:txBody>
      </p:sp>
    </p:spTree>
    <p:extLst>
      <p:ext uri="{BB962C8B-B14F-4D97-AF65-F5344CB8AC3E}">
        <p14:creationId xmlns:p14="http://schemas.microsoft.com/office/powerpoint/2010/main" val="3057510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92907068175]">
  <a:themeElements>
    <a:clrScheme name="Drawproof">
      <a:dk1>
        <a:srgbClr val="1D1D1F"/>
      </a:dk1>
      <a:lt1>
        <a:srgbClr val="FFFFFF"/>
      </a:lt1>
      <a:dk2>
        <a:srgbClr val="6E6E73"/>
      </a:dk2>
      <a:lt2>
        <a:srgbClr val="D2D2D7"/>
      </a:lt2>
      <a:accent1>
        <a:srgbClr val="0071E3"/>
      </a:accent1>
      <a:accent2>
        <a:srgbClr val="1A7F37"/>
      </a:accent2>
      <a:accent3>
        <a:srgbClr val="CF222E"/>
      </a:accent3>
      <a:accent4>
        <a:srgbClr val="6E6E73"/>
      </a:accent4>
      <a:accent5>
        <a:srgbClr val="D2D2D7"/>
      </a:accent5>
      <a:accent6>
        <a:srgbClr val="1D1D1F"/>
      </a:accent6>
      <a:hlink>
        <a:srgbClr val="0071E3"/>
      </a:hlink>
      <a:folHlink>
        <a:srgbClr val="6E6E73"/>
      </a:folHlink>
    </a:clrScheme>
    <a:fontScheme name="Drawproof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6834B75-5EA2-2C46-BA84-5B2FB981F66C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559f7643-a21f-4827-b08a-b77cd3188d7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91</Words>
  <Application>Microsoft Macintosh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</vt:lpstr>
      <vt:lpstr>Aptos SemiBold</vt:lpstr>
      <vt:lpstr>Office Theme [1792907068175]</vt:lpstr>
      <vt:lpstr>Drawproof</vt:lpstr>
      <vt:lpstr>When project funds lose accountability</vt:lpstr>
      <vt:lpstr>Verification tied to payment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Yin</dc:creator>
  <cp:lastModifiedBy>Brian Yin</cp:lastModifiedBy>
  <cp:revision>5</cp:revision>
  <dcterms:created xsi:type="dcterms:W3CDTF">2026-10-24T20:58:31Z</dcterms:created>
  <dcterms:modified xsi:type="dcterms:W3CDTF">2026-10-25T06:29:19Z</dcterms:modified>
</cp:coreProperties>
</file>